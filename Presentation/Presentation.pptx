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Orta Stil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/>
              <a:t>Asıl alt başlık stilini düzenlemek için tıklayın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62563-9677-42E5-95C6-E333E745EAD2}" type="datetimeFigureOut">
              <a:rPr lang="tr-TR" smtClean="0"/>
              <a:t>29.09.2026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8403E-9EF2-4D2E-AF08-AAC89DA9FEA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742214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62563-9677-42E5-95C6-E333E745EAD2}" type="datetimeFigureOut">
              <a:rPr lang="tr-TR" smtClean="0"/>
              <a:t>29.09.2026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8403E-9EF2-4D2E-AF08-AAC89DA9FEA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63800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62563-9677-42E5-95C6-E333E745EAD2}" type="datetimeFigureOut">
              <a:rPr lang="tr-TR" smtClean="0"/>
              <a:t>29.09.2026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8403E-9EF2-4D2E-AF08-AAC89DA9FEA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104173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62563-9677-42E5-95C6-E333E745EAD2}" type="datetimeFigureOut">
              <a:rPr lang="tr-TR" smtClean="0"/>
              <a:t>29.09.2026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8403E-9EF2-4D2E-AF08-AAC89DA9FEA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504381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62563-9677-42E5-95C6-E333E745EAD2}" type="datetimeFigureOut">
              <a:rPr lang="tr-TR" smtClean="0"/>
              <a:t>29.09.2026</a:t>
            </a:fld>
            <a:endParaRPr lang="tr-T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8403E-9EF2-4D2E-AF08-AAC89DA9FEA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087501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62563-9677-42E5-95C6-E333E745EAD2}" type="datetimeFigureOut">
              <a:rPr lang="tr-TR" smtClean="0"/>
              <a:t>29.09.2026</a:t>
            </a:fld>
            <a:endParaRPr lang="tr-TR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8403E-9EF2-4D2E-AF08-AAC89DA9FEA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608335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62563-9677-42E5-95C6-E333E745EAD2}" type="datetimeFigureOut">
              <a:rPr lang="tr-TR" smtClean="0"/>
              <a:t>29.09.2026</a:t>
            </a:fld>
            <a:endParaRPr lang="tr-TR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8403E-9EF2-4D2E-AF08-AAC89DA9FEA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273046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62563-9677-42E5-95C6-E333E745EAD2}" type="datetimeFigureOut">
              <a:rPr lang="tr-TR" smtClean="0"/>
              <a:t>29.09.2026</a:t>
            </a:fld>
            <a:endParaRPr lang="tr-TR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8403E-9EF2-4D2E-AF08-AAC89DA9FEA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14131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62563-9677-42E5-95C6-E333E745EAD2}" type="datetimeFigureOut">
              <a:rPr lang="tr-TR" smtClean="0"/>
              <a:t>29.09.2026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8403E-9EF2-4D2E-AF08-AAC89DA9FEA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41377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Yazılı Panoramik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62563-9677-42E5-95C6-E333E745EAD2}" type="datetimeFigureOut">
              <a:rPr lang="tr-TR" smtClean="0"/>
              <a:t>29.09.2026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8403E-9EF2-4D2E-AF08-AAC89DA9FEA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603059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şlık ve Resim Yazıs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62563-9677-42E5-95C6-E333E745EAD2}" type="datetimeFigureOut">
              <a:rPr lang="tr-TR" smtClean="0"/>
              <a:t>29.09.2026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8403E-9EF2-4D2E-AF08-AAC89DA9FEA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704166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sim Yazılı Alınt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tr-TR"/>
              <a:t>Asıl metin stillerini düzenlemek için tıklayın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62563-9677-42E5-95C6-E333E745EAD2}" type="datetimeFigureOut">
              <a:rPr lang="tr-TR" smtClean="0"/>
              <a:t>29.09.2026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8403E-9EF2-4D2E-AF08-AAC89DA9FEAF}" type="slidenum">
              <a:rPr lang="tr-TR" smtClean="0"/>
              <a:t>‹#›</a:t>
            </a:fld>
            <a:endParaRPr lang="tr-TR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153885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İsim Kart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62563-9677-42E5-95C6-E333E745EAD2}" type="datetimeFigureOut">
              <a:rPr lang="tr-TR" smtClean="0"/>
              <a:t>29.09.2026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8403E-9EF2-4D2E-AF08-AAC89DA9FEA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6821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ütu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62563-9677-42E5-95C6-E333E745EAD2}" type="datetimeFigureOut">
              <a:rPr lang="tr-TR" smtClean="0"/>
              <a:t>29.09.2026</a:t>
            </a:fld>
            <a:endParaRPr lang="tr-T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8403E-9EF2-4D2E-AF08-AAC89DA9FEA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5603158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Resim Sütu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62563-9677-42E5-95C6-E333E745EAD2}" type="datetimeFigureOut">
              <a:rPr lang="tr-TR" smtClean="0"/>
              <a:t>29.09.2026</a:t>
            </a:fld>
            <a:endParaRPr lang="tr-T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8403E-9EF2-4D2E-AF08-AAC89DA9FEA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52425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62563-9677-42E5-95C6-E333E745EAD2}" type="datetimeFigureOut">
              <a:rPr lang="tr-TR" smtClean="0"/>
              <a:t>29.09.2026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8403E-9EF2-4D2E-AF08-AAC89DA9FEA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589234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62563-9677-42E5-95C6-E333E745EAD2}" type="datetimeFigureOut">
              <a:rPr lang="tr-TR" smtClean="0"/>
              <a:t>29.09.2026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8403E-9EF2-4D2E-AF08-AAC89DA9FEA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91692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tr-TR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tr-TR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F9762563-9677-42E5-95C6-E333E745EAD2}" type="datetimeFigureOut">
              <a:rPr lang="tr-TR" smtClean="0"/>
              <a:t>29.09.2026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48403E-9EF2-4D2E-AF08-AAC89DA9FEA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473691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03936B0-D972-6A4C-B9CC-64E1D6423C3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 dirty="0" err="1"/>
              <a:t>Airline</a:t>
            </a:r>
            <a:r>
              <a:rPr lang="tr-TR" dirty="0"/>
              <a:t> </a:t>
            </a:r>
            <a:r>
              <a:rPr lang="tr-TR" dirty="0" err="1"/>
              <a:t>Passenger</a:t>
            </a:r>
            <a:r>
              <a:rPr lang="tr-TR" dirty="0"/>
              <a:t> </a:t>
            </a:r>
            <a:r>
              <a:rPr lang="tr-TR" dirty="0" err="1"/>
              <a:t>Satisfaction</a:t>
            </a:r>
            <a:r>
              <a:rPr lang="tr-TR" dirty="0"/>
              <a:t> </a:t>
            </a:r>
            <a:r>
              <a:rPr lang="tr-TR" dirty="0" err="1"/>
              <a:t>Prediction</a:t>
            </a:r>
            <a:r>
              <a:rPr lang="tr-TR" dirty="0"/>
              <a:t> Using Machine Learning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059BFBBC-0B61-3F94-715A-0776DF7DCB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3510" y="4777381"/>
            <a:ext cx="8825658" cy="861420"/>
          </a:xfrm>
        </p:spPr>
        <p:txBody>
          <a:bodyPr>
            <a:normAutofit/>
          </a:bodyPr>
          <a:lstStyle/>
          <a:p>
            <a:r>
              <a:rPr lang="tr-TR" dirty="0"/>
              <a:t>Veri Seti: </a:t>
            </a:r>
            <a:r>
              <a:rPr lang="tr-TR" dirty="0" err="1"/>
              <a:t>Airline</a:t>
            </a:r>
            <a:r>
              <a:rPr lang="tr-TR" dirty="0"/>
              <a:t> </a:t>
            </a:r>
            <a:r>
              <a:rPr lang="tr-TR" dirty="0" err="1"/>
              <a:t>Passenger</a:t>
            </a:r>
            <a:r>
              <a:rPr lang="tr-TR" dirty="0"/>
              <a:t> </a:t>
            </a:r>
            <a:r>
              <a:rPr lang="tr-TR" dirty="0" err="1"/>
              <a:t>Satisfaction</a:t>
            </a:r>
            <a:endParaRPr lang="tr-TR" dirty="0"/>
          </a:p>
          <a:p>
            <a:r>
              <a:rPr lang="tr-TR" dirty="0"/>
              <a:t> Yöntemler: </a:t>
            </a:r>
            <a:r>
              <a:rPr lang="tr-TR" dirty="0" err="1"/>
              <a:t>Logistic</a:t>
            </a:r>
            <a:r>
              <a:rPr lang="tr-TR" dirty="0"/>
              <a:t> </a:t>
            </a:r>
            <a:r>
              <a:rPr lang="tr-TR" dirty="0" err="1"/>
              <a:t>Regression</a:t>
            </a:r>
            <a:r>
              <a:rPr lang="tr-TR" dirty="0"/>
              <a:t> ve </a:t>
            </a:r>
            <a:r>
              <a:rPr lang="tr-TR" dirty="0" err="1"/>
              <a:t>Gradient</a:t>
            </a:r>
            <a:r>
              <a:rPr lang="tr-TR" dirty="0"/>
              <a:t> </a:t>
            </a:r>
            <a:r>
              <a:rPr lang="tr-TR" dirty="0" err="1"/>
              <a:t>Boosting</a:t>
            </a:r>
            <a:r>
              <a:rPr lang="tr-TR" dirty="0"/>
              <a:t> 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5578079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30B024D-2C96-A8EB-F1D0-CD0992565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Projenin Amacı ve veri setinin özellikleri 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8B047969-016B-08B9-5859-E48AD145AB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Bu projenin amacı, yolcuların uçuş deneyimlerine göre memnuniyet durumlarını tahmin etmek.</a:t>
            </a:r>
          </a:p>
          <a:p>
            <a:r>
              <a:rPr lang="tr-TR" dirty="0"/>
              <a:t>Veri seti toplam 25997 satır ve 26 sütundan oluşuyor</a:t>
            </a:r>
          </a:p>
          <a:p>
            <a:r>
              <a:rPr lang="tr-TR" dirty="0"/>
              <a:t>Hedef değişken ‘</a:t>
            </a:r>
            <a:r>
              <a:rPr lang="tr-TR" dirty="0" err="1"/>
              <a:t>satisfied</a:t>
            </a:r>
            <a:r>
              <a:rPr lang="tr-TR" dirty="0"/>
              <a:t>’ ve ‘</a:t>
            </a:r>
            <a:r>
              <a:rPr lang="tr-TR" dirty="0" err="1"/>
              <a:t>dissatisfied</a:t>
            </a:r>
            <a:r>
              <a:rPr lang="tr-TR" dirty="0"/>
              <a:t> </a:t>
            </a:r>
            <a:r>
              <a:rPr lang="tr-TR" dirty="0" err="1"/>
              <a:t>or</a:t>
            </a:r>
            <a:r>
              <a:rPr lang="tr-TR" dirty="0"/>
              <a:t> </a:t>
            </a:r>
            <a:r>
              <a:rPr lang="tr-TR" dirty="0" err="1"/>
              <a:t>neutral</a:t>
            </a:r>
            <a:r>
              <a:rPr lang="tr-TR" dirty="0"/>
              <a:t>’ </a:t>
            </a:r>
            <a:r>
              <a:rPr lang="tr-TR" dirty="0" err="1"/>
              <a:t>dır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9230056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F3FC718-FDE3-4EF7-921E-A5F374EAF8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DE489B65-41FD-39A8-E6C2-561F90D9F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855" y="1032387"/>
            <a:ext cx="3108626" cy="1201798"/>
          </a:xfrm>
        </p:spPr>
        <p:txBody>
          <a:bodyPr anchor="b">
            <a:normAutofit/>
          </a:bodyPr>
          <a:lstStyle/>
          <a:p>
            <a:pPr algn="ctr"/>
            <a:r>
              <a:rPr lang="tr-TR" sz="3200" dirty="0">
                <a:solidFill>
                  <a:srgbClr val="EBEBEB"/>
                </a:solidFill>
              </a:rPr>
              <a:t>Veri Analizi</a:t>
            </a:r>
          </a:p>
        </p:txBody>
      </p:sp>
      <p:sp>
        <p:nvSpPr>
          <p:cNvPr id="14" name="Freeform 11">
            <a:extLst>
              <a:ext uri="{FF2B5EF4-FFF2-40B4-BE49-F238E27FC236}">
                <a16:creationId xmlns:a16="http://schemas.microsoft.com/office/drawing/2014/main" id="{FAA0F719-3DC8-4F08-AD8F-5A845658CB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4811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6" name="Freeform: Shape 15">
            <a:extLst>
              <a:ext uri="{FF2B5EF4-FFF2-40B4-BE49-F238E27FC236}">
                <a16:creationId xmlns:a16="http://schemas.microsoft.com/office/drawing/2014/main" id="{7DCB61BE-FA0F-4EFB-BE0E-268BAD8E30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4747655" y="-586345"/>
            <a:ext cx="6858001" cy="8030691"/>
          </a:xfrm>
          <a:custGeom>
            <a:avLst/>
            <a:gdLst>
              <a:gd name="connsiteX0" fmla="*/ 6858001 w 6858001"/>
              <a:gd name="connsiteY0" fmla="*/ 1177 h 8030691"/>
              <a:gd name="connsiteX1" fmla="*/ 6858001 w 6858001"/>
              <a:gd name="connsiteY1" fmla="*/ 1344715 h 8030691"/>
              <a:gd name="connsiteX2" fmla="*/ 6858000 w 6858001"/>
              <a:gd name="connsiteY2" fmla="*/ 1344715 h 8030691"/>
              <a:gd name="connsiteX3" fmla="*/ 6858000 w 6858001"/>
              <a:gd name="connsiteY3" fmla="*/ 8030691 h 8030691"/>
              <a:gd name="connsiteX4" fmla="*/ 0 w 6858001"/>
              <a:gd name="connsiteY4" fmla="*/ 8030690 h 8030691"/>
              <a:gd name="connsiteX5" fmla="*/ 0 w 6858001"/>
              <a:gd name="connsiteY5" fmla="*/ 477747 h 8030691"/>
              <a:gd name="connsiteX6" fmla="*/ 1 w 6858001"/>
              <a:gd name="connsiteY6" fmla="*/ 477747 h 8030691"/>
              <a:gd name="connsiteX7" fmla="*/ 1 w 6858001"/>
              <a:gd name="connsiteY7" fmla="*/ 0 h 8030691"/>
              <a:gd name="connsiteX8" fmla="*/ 40463 w 6858001"/>
              <a:gd name="connsiteY8" fmla="*/ 5883 h 8030691"/>
              <a:gd name="connsiteX9" fmla="*/ 159107 w 6858001"/>
              <a:gd name="connsiteY9" fmla="*/ 23196 h 8030691"/>
              <a:gd name="connsiteX10" fmla="*/ 245518 w 6858001"/>
              <a:gd name="connsiteY10" fmla="*/ 35299 h 8030691"/>
              <a:gd name="connsiteX11" fmla="*/ 348388 w 6858001"/>
              <a:gd name="connsiteY11" fmla="*/ 48074 h 8030691"/>
              <a:gd name="connsiteX12" fmla="*/ 470460 w 6858001"/>
              <a:gd name="connsiteY12" fmla="*/ 63370 h 8030691"/>
              <a:gd name="connsiteX13" fmla="*/ 605563 w 6858001"/>
              <a:gd name="connsiteY13" fmla="*/ 79507 h 8030691"/>
              <a:gd name="connsiteX14" fmla="*/ 757810 w 6858001"/>
              <a:gd name="connsiteY14" fmla="*/ 96484 h 8030691"/>
              <a:gd name="connsiteX15" fmla="*/ 923774 w 6858001"/>
              <a:gd name="connsiteY15" fmla="*/ 114469 h 8030691"/>
              <a:gd name="connsiteX16" fmla="*/ 1104139 w 6858001"/>
              <a:gd name="connsiteY16" fmla="*/ 132455 h 8030691"/>
              <a:gd name="connsiteX17" fmla="*/ 1296163 w 6858001"/>
              <a:gd name="connsiteY17" fmla="*/ 150776 h 8030691"/>
              <a:gd name="connsiteX18" fmla="*/ 1503275 w 6858001"/>
              <a:gd name="connsiteY18" fmla="*/ 167753 h 8030691"/>
              <a:gd name="connsiteX19" fmla="*/ 1719988 w 6858001"/>
              <a:gd name="connsiteY19" fmla="*/ 184058 h 8030691"/>
              <a:gd name="connsiteX20" fmla="*/ 1949045 w 6858001"/>
              <a:gd name="connsiteY20" fmla="*/ 198850 h 8030691"/>
              <a:gd name="connsiteX21" fmla="*/ 2187703 w 6858001"/>
              <a:gd name="connsiteY21" fmla="*/ 212969 h 8030691"/>
              <a:gd name="connsiteX22" fmla="*/ 2436649 w 6858001"/>
              <a:gd name="connsiteY22" fmla="*/ 226249 h 8030691"/>
              <a:gd name="connsiteX23" fmla="*/ 2564208 w 6858001"/>
              <a:gd name="connsiteY23" fmla="*/ 230955 h 8030691"/>
              <a:gd name="connsiteX24" fmla="*/ 2694509 w 6858001"/>
              <a:gd name="connsiteY24" fmla="*/ 236166 h 8030691"/>
              <a:gd name="connsiteX25" fmla="*/ 2826869 w 6858001"/>
              <a:gd name="connsiteY25" fmla="*/ 241040 h 8030691"/>
              <a:gd name="connsiteX26" fmla="*/ 2959914 w 6858001"/>
              <a:gd name="connsiteY26" fmla="*/ 244234 h 8030691"/>
              <a:gd name="connsiteX27" fmla="*/ 3095702 w 6858001"/>
              <a:gd name="connsiteY27" fmla="*/ 247092 h 8030691"/>
              <a:gd name="connsiteX28" fmla="*/ 3232862 w 6858001"/>
              <a:gd name="connsiteY28" fmla="*/ 250117 h 8030691"/>
              <a:gd name="connsiteX29" fmla="*/ 3372766 w 6858001"/>
              <a:gd name="connsiteY29" fmla="*/ 252134 h 8030691"/>
              <a:gd name="connsiteX30" fmla="*/ 3514040 w 6858001"/>
              <a:gd name="connsiteY30" fmla="*/ 252134 h 8030691"/>
              <a:gd name="connsiteX31" fmla="*/ 3656686 w 6858001"/>
              <a:gd name="connsiteY31" fmla="*/ 253143 h 8030691"/>
              <a:gd name="connsiteX32" fmla="*/ 3800705 w 6858001"/>
              <a:gd name="connsiteY32" fmla="*/ 252134 h 8030691"/>
              <a:gd name="connsiteX33" fmla="*/ 3946780 w 6858001"/>
              <a:gd name="connsiteY33" fmla="*/ 250117 h 8030691"/>
              <a:gd name="connsiteX34" fmla="*/ 4092856 w 6858001"/>
              <a:gd name="connsiteY34" fmla="*/ 248268 h 8030691"/>
              <a:gd name="connsiteX35" fmla="*/ 4240988 w 6858001"/>
              <a:gd name="connsiteY35" fmla="*/ 244234 h 8030691"/>
              <a:gd name="connsiteX36" fmla="*/ 4390492 w 6858001"/>
              <a:gd name="connsiteY36" fmla="*/ 240032 h 8030691"/>
              <a:gd name="connsiteX37" fmla="*/ 4539997 w 6858001"/>
              <a:gd name="connsiteY37" fmla="*/ 235157 h 8030691"/>
              <a:gd name="connsiteX38" fmla="*/ 4690873 w 6858001"/>
              <a:gd name="connsiteY38" fmla="*/ 228266 h 8030691"/>
              <a:gd name="connsiteX39" fmla="*/ 4843120 w 6858001"/>
              <a:gd name="connsiteY39" fmla="*/ 220029 h 8030691"/>
              <a:gd name="connsiteX40" fmla="*/ 4996054 w 6858001"/>
              <a:gd name="connsiteY40" fmla="*/ 212129 h 8030691"/>
              <a:gd name="connsiteX41" fmla="*/ 5148987 w 6858001"/>
              <a:gd name="connsiteY41" fmla="*/ 202044 h 8030691"/>
              <a:gd name="connsiteX42" fmla="*/ 5303978 w 6858001"/>
              <a:gd name="connsiteY42" fmla="*/ 189941 h 8030691"/>
              <a:gd name="connsiteX43" fmla="*/ 5456911 w 6858001"/>
              <a:gd name="connsiteY43" fmla="*/ 177839 h 8030691"/>
              <a:gd name="connsiteX44" fmla="*/ 5612588 w 6858001"/>
              <a:gd name="connsiteY44" fmla="*/ 163887 h 8030691"/>
              <a:gd name="connsiteX45" fmla="*/ 5768950 w 6858001"/>
              <a:gd name="connsiteY45" fmla="*/ 148591 h 8030691"/>
              <a:gd name="connsiteX46" fmla="*/ 5923255 w 6858001"/>
              <a:gd name="connsiteY46" fmla="*/ 132455 h 8030691"/>
              <a:gd name="connsiteX47" fmla="*/ 6079618 w 6858001"/>
              <a:gd name="connsiteY47" fmla="*/ 113629 h 8030691"/>
              <a:gd name="connsiteX48" fmla="*/ 6235294 w 6858001"/>
              <a:gd name="connsiteY48" fmla="*/ 93458 h 8030691"/>
              <a:gd name="connsiteX49" fmla="*/ 6391657 w 6858001"/>
              <a:gd name="connsiteY49" fmla="*/ 73455 h 8030691"/>
              <a:gd name="connsiteX50" fmla="*/ 6547333 w 6858001"/>
              <a:gd name="connsiteY50" fmla="*/ 50091 h 8030691"/>
              <a:gd name="connsiteX51" fmla="*/ 6702324 w 6858001"/>
              <a:gd name="connsiteY51" fmla="*/ 26222 h 80306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8030691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8030691"/>
                </a:lnTo>
                <a:lnTo>
                  <a:pt x="0" y="8030690"/>
                </a:lnTo>
                <a:lnTo>
                  <a:pt x="0" y="477747"/>
                </a:lnTo>
                <a:lnTo>
                  <a:pt x="1" y="477747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4"/>
                </a:lnTo>
                <a:lnTo>
                  <a:pt x="470460" y="63370"/>
                </a:lnTo>
                <a:lnTo>
                  <a:pt x="605563" y="79507"/>
                </a:lnTo>
                <a:lnTo>
                  <a:pt x="757810" y="96484"/>
                </a:lnTo>
                <a:lnTo>
                  <a:pt x="923774" y="114469"/>
                </a:lnTo>
                <a:lnTo>
                  <a:pt x="1104139" y="132455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50"/>
                </a:lnTo>
                <a:lnTo>
                  <a:pt x="2187703" y="212969"/>
                </a:lnTo>
                <a:lnTo>
                  <a:pt x="2436649" y="226249"/>
                </a:lnTo>
                <a:lnTo>
                  <a:pt x="2564208" y="230955"/>
                </a:lnTo>
                <a:lnTo>
                  <a:pt x="2694509" y="236166"/>
                </a:lnTo>
                <a:lnTo>
                  <a:pt x="2826869" y="241040"/>
                </a:lnTo>
                <a:lnTo>
                  <a:pt x="2959914" y="244234"/>
                </a:lnTo>
                <a:lnTo>
                  <a:pt x="3095702" y="247092"/>
                </a:lnTo>
                <a:lnTo>
                  <a:pt x="3232862" y="250117"/>
                </a:lnTo>
                <a:lnTo>
                  <a:pt x="3372766" y="252134"/>
                </a:lnTo>
                <a:lnTo>
                  <a:pt x="3514040" y="252134"/>
                </a:lnTo>
                <a:lnTo>
                  <a:pt x="3656686" y="253143"/>
                </a:lnTo>
                <a:lnTo>
                  <a:pt x="3800705" y="252134"/>
                </a:lnTo>
                <a:lnTo>
                  <a:pt x="3946780" y="250117"/>
                </a:lnTo>
                <a:lnTo>
                  <a:pt x="4092856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tr-T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4B31EAA-7423-46F7-9B90-4AB2B09C35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tr-TR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D451C3D-33F0-849A-E66C-313295359E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855" y="3072385"/>
            <a:ext cx="3108057" cy="2947415"/>
          </a:xfrm>
        </p:spPr>
        <p:txBody>
          <a:bodyPr>
            <a:normAutofit/>
          </a:bodyPr>
          <a:lstStyle/>
          <a:p>
            <a:r>
              <a:rPr lang="tr-TR" sz="1700" dirty="0">
                <a:solidFill>
                  <a:schemeClr val="bg1"/>
                </a:solidFill>
              </a:rPr>
              <a:t>Veri setinde sınıflar nispeten dengeli olduğundan modellerin değerlendirilmesi için </a:t>
            </a:r>
            <a:r>
              <a:rPr lang="tr-TR" sz="1700" dirty="0" err="1">
                <a:solidFill>
                  <a:schemeClr val="bg1"/>
                </a:solidFill>
              </a:rPr>
              <a:t>accuracy</a:t>
            </a:r>
            <a:r>
              <a:rPr lang="tr-TR" sz="1700" dirty="0">
                <a:solidFill>
                  <a:schemeClr val="bg1"/>
                </a:solidFill>
              </a:rPr>
              <a:t> kullanılabilir olsa da ROC-AUC daha kapsamlı değerlendirme sağlamaktadır.</a:t>
            </a:r>
            <a:endParaRPr lang="en-US" sz="1700" dirty="0">
              <a:solidFill>
                <a:schemeClr val="bg1"/>
              </a:solidFill>
            </a:endParaRPr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C7096DDF-8D5F-D83D-381F-E3A2CE0AD8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0607" y="1447799"/>
            <a:ext cx="4387242" cy="4572001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0096511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4737CDC-D96E-BEEB-7459-9F8CE8003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Veri Ön işleme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DC3E7E4E-037A-5E40-20BD-4BE8057E38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tr-TR" dirty="0" err="1"/>
              <a:t>Raw</a:t>
            </a:r>
            <a:r>
              <a:rPr lang="tr-TR" dirty="0"/>
              <a:t> Data</a:t>
            </a:r>
            <a:br>
              <a:rPr lang="tr-TR" dirty="0"/>
            </a:br>
            <a:r>
              <a:rPr lang="tr-TR" dirty="0"/>
              <a:t>↓</a:t>
            </a:r>
            <a:br>
              <a:rPr lang="tr-TR" dirty="0"/>
            </a:br>
            <a:r>
              <a:rPr lang="tr-TR" dirty="0" err="1"/>
              <a:t>Missing</a:t>
            </a:r>
            <a:r>
              <a:rPr lang="tr-TR" dirty="0"/>
              <a:t> Value Control</a:t>
            </a:r>
            <a:br>
              <a:rPr lang="tr-TR" dirty="0"/>
            </a:br>
            <a:r>
              <a:rPr lang="tr-TR" dirty="0"/>
              <a:t>↓</a:t>
            </a:r>
            <a:br>
              <a:rPr lang="tr-TR" dirty="0"/>
            </a:br>
            <a:r>
              <a:rPr lang="tr-TR" dirty="0" err="1"/>
              <a:t>One</a:t>
            </a:r>
            <a:r>
              <a:rPr lang="tr-TR" dirty="0"/>
              <a:t> Hot </a:t>
            </a:r>
            <a:r>
              <a:rPr lang="tr-TR" dirty="0" err="1"/>
              <a:t>Encoding</a:t>
            </a:r>
            <a:br>
              <a:rPr lang="tr-TR" dirty="0"/>
            </a:br>
            <a:r>
              <a:rPr lang="tr-TR" dirty="0"/>
              <a:t>↓</a:t>
            </a:r>
            <a:br>
              <a:rPr lang="tr-TR" dirty="0"/>
            </a:br>
            <a:r>
              <a:rPr lang="tr-TR" dirty="0"/>
              <a:t>Train-Test </a:t>
            </a:r>
            <a:r>
              <a:rPr lang="tr-TR" dirty="0" err="1"/>
              <a:t>Split</a:t>
            </a:r>
            <a:br>
              <a:rPr lang="tr-TR" dirty="0"/>
            </a:br>
            <a:r>
              <a:rPr lang="tr-TR" dirty="0"/>
              <a:t>↓</a:t>
            </a:r>
            <a:br>
              <a:rPr lang="tr-TR" dirty="0"/>
            </a:br>
            <a:r>
              <a:rPr lang="tr-TR" dirty="0"/>
              <a:t>Standard </a:t>
            </a:r>
            <a:r>
              <a:rPr lang="tr-TR" dirty="0" err="1"/>
              <a:t>Scaling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7029971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B46EBE5-C41E-0C26-4E80-73ED7DAAA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Metodoloji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E8E1BB88-4DC9-DCD8-D9B5-B9E09D3793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arenR"/>
            </a:pPr>
            <a:r>
              <a:rPr lang="tr-TR" dirty="0" err="1"/>
              <a:t>Baseline</a:t>
            </a:r>
            <a:r>
              <a:rPr lang="tr-TR" dirty="0"/>
              <a:t> </a:t>
            </a:r>
            <a:r>
              <a:rPr lang="tr-TR" dirty="0" err="1"/>
              <a:t>Logistic</a:t>
            </a:r>
            <a:r>
              <a:rPr lang="tr-TR" dirty="0"/>
              <a:t> </a:t>
            </a:r>
            <a:r>
              <a:rPr lang="tr-TR" dirty="0" err="1"/>
              <a:t>Regression</a:t>
            </a:r>
            <a:endParaRPr lang="tr-TR" dirty="0"/>
          </a:p>
          <a:p>
            <a:pPr marL="457200" indent="-457200">
              <a:buFont typeface="+mj-lt"/>
              <a:buAutoNum type="arabicParenR"/>
            </a:pPr>
            <a:r>
              <a:rPr lang="tr-TR" dirty="0" err="1"/>
              <a:t>Feature</a:t>
            </a:r>
            <a:r>
              <a:rPr lang="tr-TR" dirty="0"/>
              <a:t> </a:t>
            </a:r>
            <a:r>
              <a:rPr lang="tr-TR" dirty="0" err="1"/>
              <a:t>Selection</a:t>
            </a:r>
            <a:r>
              <a:rPr lang="tr-TR" dirty="0"/>
              <a:t> (RFECV)</a:t>
            </a:r>
          </a:p>
          <a:p>
            <a:pPr marL="457200" indent="-457200">
              <a:buFont typeface="+mj-lt"/>
              <a:buAutoNum type="arabicParenR"/>
            </a:pPr>
            <a:r>
              <a:rPr lang="tr-TR" dirty="0" err="1"/>
              <a:t>Regularization</a:t>
            </a:r>
            <a:endParaRPr lang="tr-TR" dirty="0"/>
          </a:p>
          <a:p>
            <a:pPr marL="457200" indent="-457200">
              <a:buFont typeface="+mj-lt"/>
              <a:buAutoNum type="arabicParenR"/>
            </a:pPr>
            <a:r>
              <a:rPr lang="tr-TR" dirty="0" err="1"/>
              <a:t>Hyperparameter</a:t>
            </a:r>
            <a:r>
              <a:rPr lang="tr-TR" dirty="0"/>
              <a:t> </a:t>
            </a:r>
            <a:r>
              <a:rPr lang="tr-TR" dirty="0" err="1"/>
              <a:t>Optimization</a:t>
            </a:r>
            <a:endParaRPr lang="tr-TR" dirty="0"/>
          </a:p>
          <a:p>
            <a:pPr marL="457200" indent="-457200">
              <a:buFont typeface="+mj-lt"/>
              <a:buAutoNum type="arabicParenR"/>
            </a:pPr>
            <a:r>
              <a:rPr lang="tr-TR" dirty="0" err="1"/>
              <a:t>Gradient</a:t>
            </a:r>
            <a:r>
              <a:rPr lang="tr-TR" dirty="0"/>
              <a:t> </a:t>
            </a:r>
            <a:r>
              <a:rPr lang="tr-TR" dirty="0" err="1"/>
              <a:t>Boosting</a:t>
            </a:r>
            <a:endParaRPr lang="tr-TR" dirty="0"/>
          </a:p>
          <a:p>
            <a:pPr marL="457200" indent="-457200">
              <a:buFont typeface="+mj-lt"/>
              <a:buAutoNum type="arabicParenR"/>
            </a:pPr>
            <a:r>
              <a:rPr lang="tr-TR" dirty="0"/>
              <a:t>Model </a:t>
            </a:r>
            <a:r>
              <a:rPr lang="tr-TR" dirty="0" err="1"/>
              <a:t>Comparison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3472853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45158C8-E2B6-1FD6-3CDE-FBCFC9207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Feature</a:t>
            </a:r>
            <a:r>
              <a:rPr lang="tr-TR" dirty="0"/>
              <a:t> </a:t>
            </a:r>
            <a:r>
              <a:rPr lang="tr-TR" dirty="0" err="1"/>
              <a:t>Selection</a:t>
            </a:r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EF897D2B-90F6-FD01-7154-E8F68CF77D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Başlangıçta özellik sayısı 24 iken </a:t>
            </a:r>
            <a:r>
              <a:rPr lang="tr-TR" dirty="0" err="1"/>
              <a:t>Feature</a:t>
            </a:r>
            <a:r>
              <a:rPr lang="tr-TR" dirty="0"/>
              <a:t> </a:t>
            </a:r>
            <a:r>
              <a:rPr lang="tr-TR" dirty="0" err="1"/>
              <a:t>selection</a:t>
            </a:r>
            <a:r>
              <a:rPr lang="tr-TR" dirty="0"/>
              <a:t> ile 22 e düştü</a:t>
            </a:r>
          </a:p>
          <a:p>
            <a:r>
              <a:rPr lang="tr-TR" dirty="0"/>
              <a:t>Böylece RFECV kullanılarak gereksiz özellikler elimine edilmiş ve model karmaşıklığı azaltılmıştır.</a:t>
            </a:r>
          </a:p>
          <a:p>
            <a:r>
              <a:rPr lang="tr-TR" dirty="0" err="1"/>
              <a:t>Xgboost</a:t>
            </a:r>
            <a:r>
              <a:rPr lang="tr-TR" dirty="0"/>
              <a:t> ile en etkili özellikler belirlenip model tekrar eğitildi ve model maliyeti azaltılmış oldu</a:t>
            </a:r>
          </a:p>
        </p:txBody>
      </p:sp>
    </p:spTree>
    <p:extLst>
      <p:ext uri="{BB962C8B-B14F-4D97-AF65-F5344CB8AC3E}">
        <p14:creationId xmlns:p14="http://schemas.microsoft.com/office/powerpoint/2010/main" val="19946587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FFDB394-601F-1F4B-EAAA-DB22990CE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Logistic</a:t>
            </a:r>
            <a:r>
              <a:rPr lang="tr-TR" dirty="0"/>
              <a:t> </a:t>
            </a:r>
            <a:r>
              <a:rPr lang="tr-TR" dirty="0" err="1"/>
              <a:t>Regression</a:t>
            </a:r>
            <a:r>
              <a:rPr lang="tr-TR" dirty="0"/>
              <a:t> Sonuçları</a:t>
            </a:r>
          </a:p>
        </p:txBody>
      </p:sp>
      <p:graphicFrame>
        <p:nvGraphicFramePr>
          <p:cNvPr id="9" name="İçerik Yer Tutucusu 8">
            <a:extLst>
              <a:ext uri="{FF2B5EF4-FFF2-40B4-BE49-F238E27FC236}">
                <a16:creationId xmlns:a16="http://schemas.microsoft.com/office/drawing/2014/main" id="{CCD2F4EF-8390-2882-03E8-96CD8C43796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21252766"/>
              </p:ext>
            </p:extLst>
          </p:nvPr>
        </p:nvGraphicFramePr>
        <p:xfrm>
          <a:off x="1103313" y="2052638"/>
          <a:ext cx="8947149" cy="41121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82383">
                  <a:extLst>
                    <a:ext uri="{9D8B030D-6E8A-4147-A177-3AD203B41FA5}">
                      <a16:colId xmlns:a16="http://schemas.microsoft.com/office/drawing/2014/main" val="2839280181"/>
                    </a:ext>
                  </a:extLst>
                </a:gridCol>
                <a:gridCol w="2982383">
                  <a:extLst>
                    <a:ext uri="{9D8B030D-6E8A-4147-A177-3AD203B41FA5}">
                      <a16:colId xmlns:a16="http://schemas.microsoft.com/office/drawing/2014/main" val="3361585235"/>
                    </a:ext>
                  </a:extLst>
                </a:gridCol>
                <a:gridCol w="2982383">
                  <a:extLst>
                    <a:ext uri="{9D8B030D-6E8A-4147-A177-3AD203B41FA5}">
                      <a16:colId xmlns:a16="http://schemas.microsoft.com/office/drawing/2014/main" val="2718194915"/>
                    </a:ext>
                  </a:extLst>
                </a:gridCol>
              </a:tblGrid>
              <a:tr h="1028047">
                <a:tc>
                  <a:txBody>
                    <a:bodyPr/>
                    <a:lstStyle/>
                    <a:p>
                      <a:pPr algn="ctr"/>
                      <a:endParaRPr lang="tr-TR" dirty="0"/>
                    </a:p>
                    <a:p>
                      <a:pPr algn="ctr"/>
                      <a:r>
                        <a:rPr lang="tr-TR"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 dirty="0"/>
                    </a:p>
                    <a:p>
                      <a:pPr algn="ctr"/>
                      <a:r>
                        <a:rPr lang="tr-TR" dirty="0" err="1"/>
                        <a:t>Accuracy</a:t>
                      </a:r>
                      <a:r>
                        <a:rPr lang="tr-TR" dirty="0"/>
                        <a:t> </a:t>
                      </a:r>
                      <a:r>
                        <a:rPr lang="tr-TR" dirty="0" err="1"/>
                        <a:t>score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tr-TR" dirty="0"/>
                    </a:p>
                    <a:p>
                      <a:pPr algn="ctr"/>
                      <a:r>
                        <a:rPr lang="tr-TR" dirty="0" err="1"/>
                        <a:t>Roc-auc</a:t>
                      </a:r>
                      <a:r>
                        <a:rPr lang="tr-TR" dirty="0"/>
                        <a:t> </a:t>
                      </a:r>
                      <a:r>
                        <a:rPr lang="tr-TR" dirty="0" err="1"/>
                        <a:t>Score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8694963"/>
                  </a:ext>
                </a:extLst>
              </a:tr>
              <a:tr h="1028047">
                <a:tc>
                  <a:txBody>
                    <a:bodyPr/>
                    <a:lstStyle/>
                    <a:p>
                      <a:pPr algn="ctr"/>
                      <a:endParaRPr lang="tr-TR" dirty="0"/>
                    </a:p>
                    <a:p>
                      <a:pPr algn="ctr"/>
                      <a:r>
                        <a:rPr lang="tr-TR" dirty="0"/>
                        <a:t>Base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 dirty="0"/>
                    </a:p>
                    <a:p>
                      <a:pPr algn="ctr"/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0.8699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 dirty="0"/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0.9247</a:t>
                      </a:r>
                      <a:endParaRPr lang="tr-TR" dirty="0"/>
                    </a:p>
                    <a:p>
                      <a:pPr algn="ctr"/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3311299"/>
                  </a:ext>
                </a:extLst>
              </a:tr>
              <a:tr h="1028047">
                <a:tc>
                  <a:txBody>
                    <a:bodyPr/>
                    <a:lstStyle/>
                    <a:p>
                      <a:endParaRPr lang="tr-TR" dirty="0"/>
                    </a:p>
                    <a:p>
                      <a:pPr algn="ctr"/>
                      <a:r>
                        <a:rPr lang="tr-TR" dirty="0" err="1"/>
                        <a:t>Feature</a:t>
                      </a:r>
                      <a:r>
                        <a:rPr lang="tr-TR" dirty="0"/>
                        <a:t> </a:t>
                      </a:r>
                      <a:r>
                        <a:rPr lang="tr-TR" dirty="0" err="1"/>
                        <a:t>Selection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tr-TR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0.8705</a:t>
                      </a:r>
                      <a:endParaRPr lang="tr-TR" dirty="0"/>
                    </a:p>
                    <a:p>
                      <a:pPr algn="ctr"/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 dirty="0"/>
                    </a:p>
                    <a:p>
                      <a:pPr algn="ctr"/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0.9268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908768"/>
                  </a:ext>
                </a:extLst>
              </a:tr>
              <a:tr h="1028047">
                <a:tc>
                  <a:txBody>
                    <a:bodyPr/>
                    <a:lstStyle/>
                    <a:p>
                      <a:pPr algn="ctr"/>
                      <a:endParaRPr lang="tr-TR" dirty="0"/>
                    </a:p>
                    <a:p>
                      <a:pPr algn="ctr"/>
                      <a:r>
                        <a:rPr lang="tr-TR" dirty="0" err="1"/>
                        <a:t>Tuned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 dirty="0"/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0.8744</a:t>
                      </a:r>
                    </a:p>
                    <a:p>
                      <a:pPr algn="ctr"/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 dirty="0"/>
                    </a:p>
                    <a:p>
                      <a:pPr algn="ctr"/>
                      <a:r>
                        <a:rPr lang="tr-TR" dirty="0"/>
                        <a:t>0.9327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9724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50196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D8E9C46-0A5B-FCE4-712C-5782DD888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Gradient</a:t>
            </a:r>
            <a:r>
              <a:rPr lang="tr-TR" dirty="0"/>
              <a:t> </a:t>
            </a:r>
            <a:r>
              <a:rPr lang="tr-TR" dirty="0" err="1"/>
              <a:t>Boosting</a:t>
            </a:r>
            <a:r>
              <a:rPr lang="tr-TR" dirty="0"/>
              <a:t> Sonuçları</a:t>
            </a:r>
          </a:p>
        </p:txBody>
      </p:sp>
      <p:graphicFrame>
        <p:nvGraphicFramePr>
          <p:cNvPr id="6" name="İçerik Yer Tutucusu 5">
            <a:extLst>
              <a:ext uri="{FF2B5EF4-FFF2-40B4-BE49-F238E27FC236}">
                <a16:creationId xmlns:a16="http://schemas.microsoft.com/office/drawing/2014/main" id="{39AA9591-6DCC-740C-6548-51438944855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27719308"/>
              </p:ext>
            </p:extLst>
          </p:nvPr>
        </p:nvGraphicFramePr>
        <p:xfrm>
          <a:off x="1103313" y="2052638"/>
          <a:ext cx="8947149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82383">
                  <a:extLst>
                    <a:ext uri="{9D8B030D-6E8A-4147-A177-3AD203B41FA5}">
                      <a16:colId xmlns:a16="http://schemas.microsoft.com/office/drawing/2014/main" val="3873887672"/>
                    </a:ext>
                  </a:extLst>
                </a:gridCol>
                <a:gridCol w="2982383">
                  <a:extLst>
                    <a:ext uri="{9D8B030D-6E8A-4147-A177-3AD203B41FA5}">
                      <a16:colId xmlns:a16="http://schemas.microsoft.com/office/drawing/2014/main" val="744175902"/>
                    </a:ext>
                  </a:extLst>
                </a:gridCol>
                <a:gridCol w="2982383">
                  <a:extLst>
                    <a:ext uri="{9D8B030D-6E8A-4147-A177-3AD203B41FA5}">
                      <a16:colId xmlns:a16="http://schemas.microsoft.com/office/drawing/2014/main" val="37570166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4893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56749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16226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461731"/>
                  </a:ext>
                </a:extLst>
              </a:tr>
            </a:tbl>
          </a:graphicData>
        </a:graphic>
      </p:graphicFrame>
      <p:graphicFrame>
        <p:nvGraphicFramePr>
          <p:cNvPr id="9" name="İçerik Yer Tutucusu 8">
            <a:extLst>
              <a:ext uri="{FF2B5EF4-FFF2-40B4-BE49-F238E27FC236}">
                <a16:creationId xmlns:a16="http://schemas.microsoft.com/office/drawing/2014/main" id="{71B6BAE1-EEE8-A373-2D85-020A0CBA68C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32938624"/>
              </p:ext>
            </p:extLst>
          </p:nvPr>
        </p:nvGraphicFramePr>
        <p:xfrm>
          <a:off x="1103313" y="2052638"/>
          <a:ext cx="8947149" cy="4635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82383">
                  <a:extLst>
                    <a:ext uri="{9D8B030D-6E8A-4147-A177-3AD203B41FA5}">
                      <a16:colId xmlns:a16="http://schemas.microsoft.com/office/drawing/2014/main" val="2839280181"/>
                    </a:ext>
                  </a:extLst>
                </a:gridCol>
                <a:gridCol w="2982383">
                  <a:extLst>
                    <a:ext uri="{9D8B030D-6E8A-4147-A177-3AD203B41FA5}">
                      <a16:colId xmlns:a16="http://schemas.microsoft.com/office/drawing/2014/main" val="3361585235"/>
                    </a:ext>
                  </a:extLst>
                </a:gridCol>
                <a:gridCol w="2982383">
                  <a:extLst>
                    <a:ext uri="{9D8B030D-6E8A-4147-A177-3AD203B41FA5}">
                      <a16:colId xmlns:a16="http://schemas.microsoft.com/office/drawing/2014/main" val="2718194915"/>
                    </a:ext>
                  </a:extLst>
                </a:gridCol>
              </a:tblGrid>
              <a:tr h="1158857">
                <a:tc>
                  <a:txBody>
                    <a:bodyPr/>
                    <a:lstStyle/>
                    <a:p>
                      <a:pPr algn="ctr"/>
                      <a:endParaRPr lang="tr-TR" dirty="0"/>
                    </a:p>
                    <a:p>
                      <a:pPr algn="ctr"/>
                      <a:r>
                        <a:rPr lang="tr-TR"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 dirty="0"/>
                    </a:p>
                    <a:p>
                      <a:pPr algn="ctr"/>
                      <a:r>
                        <a:rPr lang="tr-TR" dirty="0" err="1"/>
                        <a:t>Accuracy</a:t>
                      </a:r>
                      <a:r>
                        <a:rPr lang="tr-TR" dirty="0"/>
                        <a:t> </a:t>
                      </a:r>
                      <a:r>
                        <a:rPr lang="tr-TR" dirty="0" err="1"/>
                        <a:t>score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tr-TR" dirty="0"/>
                    </a:p>
                    <a:p>
                      <a:pPr algn="ctr"/>
                      <a:r>
                        <a:rPr lang="tr-TR" dirty="0" err="1"/>
                        <a:t>Roc-auc</a:t>
                      </a:r>
                      <a:r>
                        <a:rPr lang="tr-TR" dirty="0"/>
                        <a:t> </a:t>
                      </a:r>
                      <a:r>
                        <a:rPr lang="tr-TR" dirty="0" err="1"/>
                        <a:t>Score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8694963"/>
                  </a:ext>
                </a:extLst>
              </a:tr>
              <a:tr h="1158857">
                <a:tc>
                  <a:txBody>
                    <a:bodyPr/>
                    <a:lstStyle/>
                    <a:p>
                      <a:pPr algn="ctr"/>
                      <a:endParaRPr lang="tr-TR" dirty="0"/>
                    </a:p>
                    <a:p>
                      <a:pPr algn="ctr"/>
                      <a:r>
                        <a:rPr lang="tr-TR" dirty="0"/>
                        <a:t>Base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 dirty="0"/>
                    </a:p>
                    <a:p>
                      <a:pPr algn="ctr"/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0.9557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 dirty="0"/>
                    </a:p>
                    <a:p>
                      <a:pPr algn="ctr"/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0.992</a:t>
                      </a:r>
                    </a:p>
                    <a:p>
                      <a:pPr algn="ctr"/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3311299"/>
                  </a:ext>
                </a:extLst>
              </a:tr>
              <a:tr h="1158857">
                <a:tc>
                  <a:txBody>
                    <a:bodyPr/>
                    <a:lstStyle/>
                    <a:p>
                      <a:endParaRPr lang="tr-TR" dirty="0"/>
                    </a:p>
                    <a:p>
                      <a:pPr algn="ctr"/>
                      <a:r>
                        <a:rPr lang="tr-TR" dirty="0" err="1"/>
                        <a:t>Feature</a:t>
                      </a:r>
                      <a:r>
                        <a:rPr lang="tr-TR" dirty="0"/>
                        <a:t> </a:t>
                      </a:r>
                      <a:r>
                        <a:rPr lang="tr-TR" dirty="0" err="1"/>
                        <a:t>Selection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tr-TR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0.8705</a:t>
                      </a:r>
                      <a:endParaRPr lang="tr-TR" dirty="0"/>
                    </a:p>
                    <a:p>
                      <a:pPr algn="ctr"/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 dirty="0"/>
                    </a:p>
                    <a:p>
                      <a:pPr algn="ctr"/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0.9268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908768"/>
                  </a:ext>
                </a:extLst>
              </a:tr>
              <a:tr h="1158857">
                <a:tc>
                  <a:txBody>
                    <a:bodyPr/>
                    <a:lstStyle/>
                    <a:p>
                      <a:pPr algn="ctr"/>
                      <a:endParaRPr lang="tr-TR" dirty="0"/>
                    </a:p>
                    <a:p>
                      <a:pPr algn="ctr"/>
                      <a:r>
                        <a:rPr lang="tr-TR" dirty="0" err="1"/>
                        <a:t>Tuned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 dirty="0"/>
                    </a:p>
                    <a:p>
                      <a:pPr algn="ctr"/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0.9613</a:t>
                      </a:r>
                    </a:p>
                    <a:p>
                      <a:pPr algn="ctr"/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 dirty="0"/>
                    </a:p>
                    <a:p>
                      <a:pPr algn="ctr"/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0.9615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9724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673778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095DBE0-4845-FB35-8751-BB60A9BF6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Feature</a:t>
            </a:r>
            <a:r>
              <a:rPr lang="tr-TR" dirty="0"/>
              <a:t> </a:t>
            </a:r>
            <a:r>
              <a:rPr lang="tr-TR" dirty="0" err="1"/>
              <a:t>Importance</a:t>
            </a:r>
            <a:br>
              <a:rPr lang="tr-TR" dirty="0"/>
            </a:br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2939DAEE-BCAE-7B2E-C70B-F18A0B4462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En önemli 5 değişkenler şunlardır :</a:t>
            </a:r>
          </a:p>
          <a:p>
            <a:r>
              <a:rPr lang="tr-TR" dirty="0"/>
              <a:t>Online </a:t>
            </a:r>
            <a:r>
              <a:rPr lang="tr-TR" dirty="0" err="1"/>
              <a:t>Boarding</a:t>
            </a:r>
            <a:r>
              <a:rPr lang="tr-TR" dirty="0"/>
              <a:t> </a:t>
            </a:r>
          </a:p>
          <a:p>
            <a:r>
              <a:rPr lang="tr-TR" dirty="0" err="1"/>
              <a:t>Inflight</a:t>
            </a:r>
            <a:r>
              <a:rPr lang="tr-TR" dirty="0"/>
              <a:t> wifi service</a:t>
            </a:r>
          </a:p>
          <a:p>
            <a:r>
              <a:rPr lang="tr-TR" dirty="0" err="1"/>
              <a:t>Type</a:t>
            </a:r>
            <a:r>
              <a:rPr lang="tr-TR" dirty="0"/>
              <a:t> of </a:t>
            </a:r>
            <a:r>
              <a:rPr lang="tr-TR" dirty="0" err="1"/>
              <a:t>Travel_Personal</a:t>
            </a:r>
            <a:r>
              <a:rPr lang="tr-TR" dirty="0"/>
              <a:t> Travel</a:t>
            </a:r>
          </a:p>
          <a:p>
            <a:r>
              <a:rPr lang="tr-TR" dirty="0"/>
              <a:t> </a:t>
            </a:r>
            <a:r>
              <a:rPr lang="tr-TR" dirty="0" err="1"/>
              <a:t>Customer</a:t>
            </a:r>
            <a:r>
              <a:rPr lang="tr-TR" dirty="0"/>
              <a:t> </a:t>
            </a:r>
            <a:r>
              <a:rPr lang="tr-TR" dirty="0" err="1"/>
              <a:t>Type_disloyal</a:t>
            </a:r>
            <a:r>
              <a:rPr lang="tr-TR" dirty="0"/>
              <a:t> </a:t>
            </a:r>
            <a:r>
              <a:rPr lang="tr-TR" dirty="0" err="1"/>
              <a:t>Customer</a:t>
            </a:r>
            <a:endParaRPr lang="tr-TR" dirty="0"/>
          </a:p>
          <a:p>
            <a:r>
              <a:rPr lang="tr-TR" dirty="0" err="1"/>
              <a:t>Inflight</a:t>
            </a:r>
            <a:r>
              <a:rPr lang="tr-TR" dirty="0"/>
              <a:t> </a:t>
            </a:r>
            <a:r>
              <a:rPr lang="tr-TR" dirty="0" err="1"/>
              <a:t>entertainment</a:t>
            </a:r>
            <a:endParaRPr lang="tr-TR" dirty="0"/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7125769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1C7F8DE-0C5D-0E87-6D73-E56E88FF4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Sonuçlar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B3FE87E0-203A-7298-6B63-55A1C14B1F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err="1"/>
              <a:t>Feature</a:t>
            </a:r>
            <a:r>
              <a:rPr lang="tr-TR" dirty="0"/>
              <a:t> </a:t>
            </a:r>
            <a:r>
              <a:rPr lang="tr-TR" dirty="0" err="1"/>
              <a:t>Selection</a:t>
            </a:r>
            <a:r>
              <a:rPr lang="tr-TR" dirty="0"/>
              <a:t> ROC-AUC değerini artırmıştır.</a:t>
            </a:r>
          </a:p>
          <a:p>
            <a:r>
              <a:rPr lang="tr-TR" dirty="0"/>
              <a:t> L1 </a:t>
            </a:r>
            <a:r>
              <a:rPr lang="tr-TR" dirty="0" err="1"/>
              <a:t>regularization</a:t>
            </a:r>
            <a:r>
              <a:rPr lang="tr-TR" dirty="0"/>
              <a:t> ile </a:t>
            </a:r>
            <a:r>
              <a:rPr lang="tr-TR" dirty="0" err="1"/>
              <a:t>overfitting</a:t>
            </a:r>
            <a:r>
              <a:rPr lang="tr-TR" dirty="0"/>
              <a:t> azaltılmıştır.</a:t>
            </a:r>
          </a:p>
          <a:p>
            <a:r>
              <a:rPr lang="tr-TR" dirty="0"/>
              <a:t> </a:t>
            </a:r>
            <a:r>
              <a:rPr lang="tr-TR" dirty="0" err="1"/>
              <a:t>Hyperparameter</a:t>
            </a:r>
            <a:r>
              <a:rPr lang="tr-TR" dirty="0"/>
              <a:t> </a:t>
            </a:r>
            <a:r>
              <a:rPr lang="tr-TR" dirty="0" err="1"/>
              <a:t>tuning</a:t>
            </a:r>
            <a:r>
              <a:rPr lang="tr-TR" dirty="0"/>
              <a:t> performansı iyileştirmiştir. </a:t>
            </a:r>
          </a:p>
          <a:p>
            <a:r>
              <a:rPr lang="tr-TR" dirty="0" err="1"/>
              <a:t>Gradient</a:t>
            </a:r>
            <a:r>
              <a:rPr lang="tr-TR" dirty="0"/>
              <a:t> </a:t>
            </a:r>
            <a:r>
              <a:rPr lang="tr-TR" dirty="0" err="1"/>
              <a:t>Boosting</a:t>
            </a:r>
            <a:r>
              <a:rPr lang="tr-TR" dirty="0"/>
              <a:t> </a:t>
            </a:r>
            <a:r>
              <a:rPr lang="tr-TR" dirty="0" err="1"/>
              <a:t>Logistic</a:t>
            </a:r>
            <a:r>
              <a:rPr lang="tr-TR" dirty="0"/>
              <a:t> </a:t>
            </a:r>
            <a:r>
              <a:rPr lang="tr-TR" dirty="0" err="1"/>
              <a:t>Regression'dan</a:t>
            </a:r>
            <a:r>
              <a:rPr lang="tr-TR" dirty="0"/>
              <a:t> daha başarılı sonuç vermiştir. </a:t>
            </a:r>
          </a:p>
          <a:p>
            <a:r>
              <a:rPr lang="tr-TR" dirty="0"/>
              <a:t>L1 </a:t>
            </a:r>
            <a:r>
              <a:rPr lang="tr-TR" dirty="0" err="1"/>
              <a:t>regularization</a:t>
            </a:r>
            <a:r>
              <a:rPr lang="tr-TR" dirty="0"/>
              <a:t> ile </a:t>
            </a:r>
            <a:r>
              <a:rPr lang="tr-TR" dirty="0" err="1"/>
              <a:t>overfitting</a:t>
            </a:r>
            <a:r>
              <a:rPr lang="tr-TR" dirty="0"/>
              <a:t> azaldı</a:t>
            </a:r>
          </a:p>
          <a:p>
            <a:r>
              <a:rPr lang="tr-TR" dirty="0"/>
              <a:t>Yolcu memnuniyetini en çok etkileyen faktörler online </a:t>
            </a:r>
            <a:r>
              <a:rPr lang="tr-TR" dirty="0" err="1"/>
              <a:t>boarding</a:t>
            </a:r>
            <a:r>
              <a:rPr lang="tr-TR" dirty="0"/>
              <a:t>, wifi service, </a:t>
            </a:r>
            <a:r>
              <a:rPr lang="tr-TR" dirty="0" err="1"/>
              <a:t>Type</a:t>
            </a:r>
            <a:r>
              <a:rPr lang="tr-TR" dirty="0"/>
              <a:t> of Travel ve </a:t>
            </a:r>
            <a:r>
              <a:rPr lang="tr-TR" dirty="0" err="1"/>
              <a:t>Inflight</a:t>
            </a:r>
            <a:r>
              <a:rPr lang="tr-TR" dirty="0"/>
              <a:t> </a:t>
            </a:r>
            <a:r>
              <a:rPr lang="tr-TR" dirty="0" err="1"/>
              <a:t>entertainment</a:t>
            </a:r>
            <a:r>
              <a:rPr lang="tr-TR" dirty="0"/>
              <a:t> değişkenleridir.</a:t>
            </a:r>
          </a:p>
        </p:txBody>
      </p:sp>
    </p:spTree>
    <p:extLst>
      <p:ext uri="{BB962C8B-B14F-4D97-AF65-F5344CB8AC3E}">
        <p14:creationId xmlns:p14="http://schemas.microsoft.com/office/powerpoint/2010/main" val="173874218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İyon">
  <a:themeElements>
    <a:clrScheme name="İy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İy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İy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278</TotalTime>
  <Words>284</Words>
  <Application>Microsoft Office PowerPoint</Application>
  <PresentationFormat>Geniş ekran</PresentationFormat>
  <Paragraphs>86</Paragraphs>
  <Slides>10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2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10</vt:i4>
      </vt:variant>
    </vt:vector>
  </HeadingPairs>
  <TitlesOfParts>
    <vt:vector size="13" baseType="lpstr">
      <vt:lpstr>Century Gothic</vt:lpstr>
      <vt:lpstr>Wingdings 3</vt:lpstr>
      <vt:lpstr>İyon</vt:lpstr>
      <vt:lpstr>Airline Passenger Satisfaction Prediction Using Machine Learning</vt:lpstr>
      <vt:lpstr>Projenin Amacı ve veri setinin özellikleri </vt:lpstr>
      <vt:lpstr>Veri Analizi</vt:lpstr>
      <vt:lpstr>Veri Ön işleme</vt:lpstr>
      <vt:lpstr>Metodoloji</vt:lpstr>
      <vt:lpstr>Feature Selection</vt:lpstr>
      <vt:lpstr>Logistic Regression Sonuçları</vt:lpstr>
      <vt:lpstr>Gradient Boosting Sonuçları</vt:lpstr>
      <vt:lpstr>Feature Importance </vt:lpstr>
      <vt:lpstr>Sonuçlar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esraberkaykayaalp@gmail.com</dc:creator>
  <cp:lastModifiedBy>esraberkaykayaalp@gmail.com</cp:lastModifiedBy>
  <cp:revision>4</cp:revision>
  <dcterms:created xsi:type="dcterms:W3CDTF">2026-06-02T17:40:59Z</dcterms:created>
  <dcterms:modified xsi:type="dcterms:W3CDTF">2026-09-29T08:55:09Z</dcterms:modified>
</cp:coreProperties>
</file>